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B3048"/>
                </a:solidFill>
              </a:defRPr>
            </a:pPr>
            <a:r>
              <a:t>Superstore Sales &amp; Profit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2D70B4"/>
                </a:solidFill>
              </a:defRPr>
            </a:pPr>
            <a:r>
              <a:t>Exploratory Data Analysis &amp; Interactive Power BI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246120"/>
            <a:ext cx="6309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3493008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30373E"/>
                </a:solidFill>
              </a:defRPr>
            </a:pPr>
            <a:r>
              <a:t>Name: VISHAL</a:t>
            </a:r>
          </a:p>
          <a:p>
            <a:pPr>
              <a:spcAft>
                <a:spcPts val="1100"/>
              </a:spcAft>
              <a:defRPr sz="1500">
                <a:solidFill>
                  <a:srgbClr val="30373E"/>
                </a:solidFill>
              </a:defRPr>
            </a:pPr>
            <a:r>
              <a:t>Student ID: INST26DA030224</a:t>
            </a:r>
          </a:p>
          <a:p>
            <a:pPr>
              <a:spcAft>
                <a:spcPts val="1100"/>
              </a:spcAft>
              <a:defRPr sz="1500">
                <a:solidFill>
                  <a:srgbClr val="30373E"/>
                </a:solidFill>
              </a:defRPr>
            </a:pPr>
            <a:r>
              <a:t>Email: vk4499573@gmail.com</a:t>
            </a:r>
          </a:p>
          <a:p>
            <a:pPr>
              <a:spcAft>
                <a:spcPts val="1100"/>
              </a:spcAft>
              <a:defRPr sz="1500">
                <a:solidFill>
                  <a:srgbClr val="30373E"/>
                </a:solidFill>
              </a:defRPr>
            </a:pPr>
            <a:r>
              <a:t>Internship Domain: Data Analytics</a:t>
            </a:r>
          </a:p>
          <a:p>
            <a:pPr>
              <a:spcAft>
                <a:spcPts val="1100"/>
              </a:spcAft>
              <a:defRPr sz="1500">
                <a:solidFill>
                  <a:srgbClr val="30373E"/>
                </a:solidFill>
              </a:defRPr>
            </a:pPr>
            <a:r>
              <a:t>Batch Cohort: Batch-03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834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70B4"/>
                </a:solidFill>
              </a:defRPr>
            </a:pPr>
            <a:r>
              <a:t>RAW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0373E"/>
                </a:solidFill>
              </a:defRPr>
            </a:pPr>
            <a:r>
              <a:t>Retail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17320"/>
            <a:ext cx="2834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737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915B"/>
                </a:solidFill>
              </a:defRPr>
            </a:pPr>
            <a:r>
              <a:t>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40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0373E"/>
                </a:solidFill>
              </a:defRPr>
            </a:pPr>
            <a:r>
              <a:t>Clean • Analyze • Visualize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2834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08530"/>
                </a:solidFill>
              </a:defRPr>
            </a:pPr>
            <a: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0373E"/>
                </a:solidFill>
              </a:defRPr>
            </a:pPr>
            <a:r>
              <a:t>Business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Objective: analyze sales, profit, customers, products, categories, segments and regions.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Identify trends, relationships, high/low-performing areas and potential outliers.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Build an interactive Power BI dashboard for data-driven business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Dataset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73E"/>
                </a:solidFill>
              </a:defRPr>
            </a:pPr>
            <a:r>
              <a:t>Dataset: Sample Superstore retail sales dataset.</a:t>
            </a:r>
          </a:p>
          <a:p>
            <a:pPr>
              <a:spcAft>
                <a:spcPts val="1100"/>
              </a:spcAft>
              <a:defRPr sz="1600">
                <a:solidFill>
                  <a:srgbClr val="30373E"/>
                </a:solidFill>
              </a:defRPr>
            </a:pPr>
            <a:r>
              <a:t>Key fields include Order ID, Order Date, Ship Date, Customer, Region, Category, Sub-Category, Sales, Quantity, Discount and Profit.</a:t>
            </a:r>
          </a:p>
          <a:p>
            <a:pPr>
              <a:spcAft>
                <a:spcPts val="1100"/>
              </a:spcAft>
              <a:defRPr sz="1600">
                <a:solidFill>
                  <a:srgbClr val="30373E"/>
                </a:solidFill>
              </a:defRPr>
            </a:pPr>
            <a:r>
              <a:t>Checked data types, missing values, errors and duplicate records.</a:t>
            </a:r>
          </a:p>
          <a:p>
            <a:pPr>
              <a:spcAft>
                <a:spcPts val="1100"/>
              </a:spcAft>
              <a:defRPr sz="1600">
                <a:solidFill>
                  <a:srgbClr val="30373E"/>
                </a:solidFill>
              </a:defRPr>
            </a:pPr>
            <a:r>
              <a:t>Validated Quantity, Sales, Discount and Order/Ship Date logic.</a:t>
            </a:r>
          </a:p>
          <a:p>
            <a:pPr>
              <a:spcAft>
                <a:spcPts val="1100"/>
              </a:spcAft>
              <a:defRPr sz="1600">
                <a:solidFill>
                  <a:srgbClr val="30373E"/>
                </a:solidFill>
              </a:defRPr>
            </a:pPr>
            <a:r>
              <a:t>Negative-profit transactions were retained when they represented valid business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554480"/>
            <a:ext cx="374903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9560" y="1874519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3048"/>
                </a:solidFill>
              </a:defRPr>
            </a:pPr>
            <a:r>
              <a:t>DATA SOURCE</a:t>
            </a:r>
            <a:br/>
            <a:r>
              <a:t>Tableau Public</a:t>
            </a:r>
            <a:br/>
            <a:r>
              <a:t>Sample Data – Superstore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0373E"/>
                </a:solidFill>
              </a:defRPr>
            </a:pPr>
            <a:r>
              <a:t>public.tableau.com/app/resources/sample-data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48132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0373E"/>
                </a:solidFill>
              </a:defRPr>
            </a:pPr>
            <a:r>
              <a:t>Total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81051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D70B4"/>
                </a:solidFill>
              </a:defRPr>
            </a:pPr>
            <a:r>
              <a:t>2.30M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8132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0373E"/>
                </a:solidFill>
              </a:defRPr>
            </a:pPr>
            <a:r>
              <a:t>Total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1051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915B"/>
                </a:solidFill>
              </a:defRPr>
            </a:pPr>
            <a:r>
              <a:t>286.40K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0373E"/>
                </a:solidFill>
              </a:defRPr>
            </a:pPr>
            <a: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08530"/>
                </a:solidFill>
              </a:defRPr>
            </a:pPr>
            <a:r>
              <a:t>5K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8132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0373E"/>
                </a:solidFill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1051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D70B4"/>
                </a:solidFill>
              </a:defRPr>
            </a:pPr>
            <a:r>
              <a:t>793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Technology is a leading category in sales and profit.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West is the strongest region by sales.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Consumer is the largest customer segment.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Sales and profit show a moderate positive relationship (correlation ≈ 0.48).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Potential outliers were identified and retained as valid business observations.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Data Visualizations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423160"/>
            <a:ext cx="182880" cy="27432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008" y="2103120"/>
            <a:ext cx="182880" cy="59436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6" y="1828800"/>
            <a:ext cx="182880" cy="86868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2240280"/>
            <a:ext cx="182880" cy="45720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645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0B4"/>
                </a:solidFill>
              </a:defRPr>
            </a:pPr>
            <a:r>
              <a:t>Trend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12140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Line Chart</a:t>
            </a:r>
            <a:br/>
            <a:r>
              <a:t>Monthly Sales &amp;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2423160"/>
            <a:ext cx="182880" cy="274320"/>
          </a:xfrm>
          <a:prstGeom prst="rect">
            <a:avLst/>
          </a:prstGeom>
          <a:solidFill>
            <a:srgbClr val="34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8" y="2103120"/>
            <a:ext cx="182880" cy="594360"/>
          </a:xfrm>
          <a:prstGeom prst="rect">
            <a:avLst/>
          </a:prstGeom>
          <a:solidFill>
            <a:srgbClr val="34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14616" y="1828800"/>
            <a:ext cx="182880" cy="868680"/>
          </a:xfrm>
          <a:prstGeom prst="rect">
            <a:avLst/>
          </a:prstGeom>
          <a:solidFill>
            <a:srgbClr val="34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07224" y="2240280"/>
            <a:ext cx="182880" cy="457200"/>
          </a:xfrm>
          <a:prstGeom prst="rect">
            <a:avLst/>
          </a:prstGeom>
          <a:solidFill>
            <a:srgbClr val="34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645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15B"/>
                </a:solidFill>
              </a:defRPr>
            </a:pPr>
            <a:r>
              <a:t>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12140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Bar / Column</a:t>
            </a:r>
            <a:br/>
            <a:r>
              <a:t>Category &amp; 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182880" cy="274320"/>
          </a:xfrm>
          <a:prstGeom prst="rect">
            <a:avLst/>
          </a:prstGeom>
          <a:solidFill>
            <a:srgbClr val="E0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" y="4343400"/>
            <a:ext cx="182880" cy="594360"/>
          </a:xfrm>
          <a:prstGeom prst="rect">
            <a:avLst/>
          </a:prstGeom>
          <a:solidFill>
            <a:srgbClr val="E0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99616" y="4069080"/>
            <a:ext cx="182880" cy="868680"/>
          </a:xfrm>
          <a:prstGeom prst="rect">
            <a:avLst/>
          </a:prstGeom>
          <a:solidFill>
            <a:srgbClr val="E0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92224" y="4480560"/>
            <a:ext cx="182880" cy="457200"/>
          </a:xfrm>
          <a:prstGeom prst="rect">
            <a:avLst/>
          </a:prstGeom>
          <a:solidFill>
            <a:srgbClr val="E0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8530"/>
                </a:solidFill>
              </a:defRPr>
            </a:pPr>
            <a:r>
              <a:t>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361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Scatter Plot</a:t>
            </a:r>
            <a:br/>
            <a:r>
              <a:t>Sales vs Profit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611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29400" y="4663440"/>
            <a:ext cx="182880" cy="27432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2008" y="4343400"/>
            <a:ext cx="182880" cy="59436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14616" y="4069080"/>
            <a:ext cx="182880" cy="86868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07224" y="4480560"/>
            <a:ext cx="182880" cy="457200"/>
          </a:xfrm>
          <a:prstGeom prst="rect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0B4"/>
                </a:solidFill>
              </a:defRPr>
            </a:pPr>
            <a:r>
              <a:t>Product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361688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Bar Charts</a:t>
            </a:r>
            <a:br/>
            <a:r>
              <a:t>Top 10 Sales &amp; Profit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Power BI Dashboard –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Overall Business Performance Dashboard</a:t>
            </a:r>
          </a:p>
        </p:txBody>
      </p:sp>
      <p:pic>
        <p:nvPicPr>
          <p:cNvPr id="4" name="Picture 3" descr="9526257f-7cc5-4a28-b553-6bc133d8f2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6275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Power BI Dashboard –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373E"/>
                </a:solidFill>
              </a:defRPr>
            </a:pPr>
            <a:r>
              <a:t>Detailed Sales &amp; Profit Analysis</a:t>
            </a:r>
          </a:p>
        </p:txBody>
      </p:sp>
      <p:pic>
        <p:nvPicPr>
          <p:cNvPr id="4" name="Picture 3" descr="816f7f16-39a3-4480-8ba2-16678a14c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6275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Technology is one of the strongest categories in terms of sales and profit.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West is the strongest region by sales.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Consumer is the largest contributor to sales and profit.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Some sub-categories generate low or negative profit despite having sales.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A small number of products contribute significantly to overall sales and profitability.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Higher sales generally tend to be associated with higher profit, but sales do not guarantee profitability.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048"/>
                </a:solidFill>
              </a:defRPr>
            </a:pPr>
            <a:r>
              <a:t>Business Recommendations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70B4"/>
                </a:solidFill>
              </a:defRPr>
            </a:pPr>
            <a:r>
              <a:t>1. Improve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0373E"/>
                </a:solidFill>
              </a:defRPr>
            </a:pPr>
            <a:r>
              <a:t>Review pricing, discounts and costs for low-profit and negative-profit sub-categories.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15B"/>
                </a:solidFill>
              </a:defRPr>
            </a:pPr>
            <a:r>
              <a:t>2. Focus on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224028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0373E"/>
                </a:solidFill>
              </a:defRPr>
            </a:pPr>
            <a:r>
              <a:t>Prioritize high-performing products and the Consumer segment while improving weaker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Conclusion: Power BI transformed the Superstore data into an interactive view of sales, profitability and business performance.</a:t>
            </a:r>
          </a:p>
          <a:p>
            <a:pPr>
              <a:spcAft>
                <a:spcPts val="1100"/>
              </a:spcAft>
              <a:defRPr sz="1700">
                <a:solidFill>
                  <a:srgbClr val="30373E"/>
                </a:solidFill>
              </a:defRPr>
            </a:pPr>
            <a:r>
              <a:t>The dashboard can support decisions related to products, discounts, profitability and regional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D70B4"/>
                </a:solidFill>
              </a:defRPr>
            </a:pPr>
            <a:r>
              <a:t>Dataset source: Tableau Public –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882"/>
                </a:solidFill>
              </a:defRPr>
            </a:pPr>
            <a:r>
              <a:t>Superstore Sales &amp; Profit Analysis • Data Analytics • Batch-03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